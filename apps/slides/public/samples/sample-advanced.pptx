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/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vi-VN" sz="2800" b="0" i="0" u="none">
                <a:solidFill>
                  <a:srgbClr val="0F172A"/>
                </a:solidFill>
              </a:rPr>
              <a:t>Chuyên Đề 1: Báo Cáo Chiến Lược Chuyển Đổi Số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2000" y="1778000"/>
            <a:ext cx="10668000" cy="317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vi-VN" sz="1800" b="0" i="0" u="none">
                <a:solidFill>
                  <a:srgbClr val="334155"/>
                </a:solidFill>
              </a:rPr>
              <a:t>Nội dung chi tiết phân tích của chuyên đề số 1.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/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Đánh giá hiện trạng hạ tầng và dịch vụ đám mây.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Triển khai giải pháp phần mềm quản trị văn phòng trực tuyến độc lập.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Đảm bảo tính liên tục trong hoạt động nghiệp vụ của khách hàng doanh nghiệp.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Cam kết mức độ sẵn sàng dịch vụ (SLA) đạt 99.9%.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vi-VN" sz="2800" b="0" i="0" u="none">
                <a:solidFill>
                  <a:srgbClr val="0F172A"/>
                </a:solidFill>
              </a:rPr>
              <a:t>Chuyên Đề 2: Báo Cáo Chiến Lược Chuyển Đổi Số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2000" y="1778000"/>
            <a:ext cx="10668000" cy="317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vi-VN" sz="1800" b="0" i="0" u="none">
                <a:solidFill>
                  <a:srgbClr val="334155"/>
                </a:solidFill>
              </a:rPr>
              <a:t>Nội dung chi tiết phân tích của chuyên đề số 2.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/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Đánh giá hiện trạng hạ tầng và dịch vụ đám mây.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Triển khai giải pháp phần mềm quản trị văn phòng trực tuyến độc lập.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Đảm bảo tính liên tục trong hoạt động nghiệp vụ của khách hàng doanh nghiệp.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Cam kết mức độ sẵn sàng dịch vụ (SLA) đạt 99.9%.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vi-VN" sz="2800" b="0" i="0" u="none">
                <a:solidFill>
                  <a:srgbClr val="0F172A"/>
                </a:solidFill>
              </a:rPr>
              <a:t>Chuyên Đề 3: Báo Cáo Chiến Lược Chuyển Đổi Số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2000" y="1778000"/>
            <a:ext cx="10668000" cy="317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vi-VN" sz="1800" b="0" i="0" u="none">
                <a:solidFill>
                  <a:srgbClr val="334155"/>
                </a:solidFill>
              </a:rPr>
              <a:t>Nội dung chi tiết phân tích của chuyên đề số 3.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/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Đánh giá hiện trạng hạ tầng và dịch vụ đám mây.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Triển khai giải pháp phần mềm quản trị văn phòng trực tuyến độc lập.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Đảm bảo tính liên tục trong hoạt động nghiệp vụ của khách hàng doanh nghiệp.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Cam kết mức độ sẵn sàng dịch vụ (SLA) đạt 99.9%.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vi-VN" sz="2800" b="0" i="0" u="none">
                <a:solidFill>
                  <a:srgbClr val="0F172A"/>
                </a:solidFill>
              </a:rPr>
              <a:t>Chuyên Đề 4: Báo Cáo Chiến Lược Chuyển Đổi Số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2000" y="1778000"/>
            <a:ext cx="10668000" cy="317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vi-VN" sz="1800" b="0" i="0" u="none">
                <a:solidFill>
                  <a:srgbClr val="334155"/>
                </a:solidFill>
              </a:rPr>
              <a:t>Nội dung chi tiết phân tích của chuyên đề số 4.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/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Đánh giá hiện trạng hạ tầng và dịch vụ đám mây.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Triển khai giải pháp phần mềm quản trị văn phòng trực tuyến độc lập.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Đảm bảo tính liên tục trong hoạt động nghiệp vụ của khách hàng doanh nghiệp.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Cam kết mức độ sẵn sàng dịch vụ (SLA) đạt 99.9%.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vi-VN" sz="2800" b="0" i="0" u="none">
                <a:solidFill>
                  <a:srgbClr val="0F172A"/>
                </a:solidFill>
              </a:rPr>
              <a:t>Chuyên Đề 5: Báo Cáo Chiến Lược Chuyển Đổi Số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2000" y="1778000"/>
            <a:ext cx="10668000" cy="317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vi-VN" sz="1800" b="0" i="0" u="none">
                <a:solidFill>
                  <a:srgbClr val="334155"/>
                </a:solidFill>
              </a:rPr>
              <a:t>Nội dung chi tiết phân tích của chuyên đề số 5.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/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Đánh giá hiện trạng hạ tầng và dịch vụ đám mây.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Triển khai giải pháp phần mềm quản trị văn phòng trực tuyến độc lập.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Đảm bảo tính liên tục trong hoạt động nghiệp vụ của khách hàng doanh nghiệp.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Cam kết mức độ sẵn sàng dịch vụ (SLA) đạt 99.9%.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vi-VN" sz="2800" b="0" i="0" u="none">
                <a:solidFill>
                  <a:srgbClr val="0F172A"/>
                </a:solidFill>
              </a:rPr>
              <a:t>Chuyên Đề 6: Báo Cáo Chiến Lược Chuyển Đổi Số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2000" y="1778000"/>
            <a:ext cx="10668000" cy="317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vi-VN" sz="1800" b="0" i="0" u="none">
                <a:solidFill>
                  <a:srgbClr val="334155"/>
                </a:solidFill>
              </a:rPr>
              <a:t>Nội dung chi tiết phân tích của chuyên đề số 6.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/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Đánh giá hiện trạng hạ tầng và dịch vụ đám mây.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Triển khai giải pháp phần mềm quản trị văn phòng trực tuyến độc lập.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Đảm bảo tính liên tục trong hoạt động nghiệp vụ của khách hàng doanh nghiệp.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Cam kết mức độ sẵn sàng dịch vụ (SLA) đạt 99.9%.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vi-VN" sz="2800" b="0" i="0" u="none">
                <a:solidFill>
                  <a:srgbClr val="0F172A"/>
                </a:solidFill>
              </a:rPr>
              <a:t>Chuyên Đề 7: Báo Cáo Chiến Lược Chuyển Đổi Số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2000" y="1778000"/>
            <a:ext cx="10668000" cy="317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vi-VN" sz="1800" b="0" i="0" u="none">
                <a:solidFill>
                  <a:srgbClr val="334155"/>
                </a:solidFill>
              </a:rPr>
              <a:t>Nội dung chi tiết phân tích của chuyên đề số 7.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/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Đánh giá hiện trạng hạ tầng và dịch vụ đám mây.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Triển khai giải pháp phần mềm quản trị văn phòng trực tuyến độc lập.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Đảm bảo tính liên tục trong hoạt động nghiệp vụ của khách hàng doanh nghiệp.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Cam kết mức độ sẵn sàng dịch vụ (SLA) đạt 99.9%.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vi-VN" sz="2800" b="0" i="0" u="none">
                <a:solidFill>
                  <a:srgbClr val="0F172A"/>
                </a:solidFill>
              </a:rPr>
              <a:t>Chuyên Đề 8: Báo Cáo Chiến Lược Chuyển Đổi Số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2000" y="1778000"/>
            <a:ext cx="10668000" cy="317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vi-VN" sz="1800" b="0" i="0" u="none">
                <a:solidFill>
                  <a:srgbClr val="334155"/>
                </a:solidFill>
              </a:rPr>
              <a:t>Nội dung chi tiết phân tích của chuyên đề số 8.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/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Đánh giá hiện trạng hạ tầng và dịch vụ đám mây.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Triển khai giải pháp phần mềm quản trị văn phòng trực tuyến độc lập.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Đảm bảo tính liên tục trong hoạt động nghiệp vụ của khách hàng doanh nghiệp.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Cam kết mức độ sẵn sàng dịch vụ (SLA) đạt 99.9%.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vi-VN" sz="2800" b="0" i="0" u="none">
                <a:solidFill>
                  <a:srgbClr val="0F172A"/>
                </a:solidFill>
              </a:rPr>
              <a:t>Chuyên Đề 9: Báo Cáo Chiến Lược Chuyển Đổi Số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2000" y="1778000"/>
            <a:ext cx="10668000" cy="317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vi-VN" sz="1800" b="0" i="0" u="none">
                <a:solidFill>
                  <a:srgbClr val="334155"/>
                </a:solidFill>
              </a:rPr>
              <a:t>Nội dung chi tiết phân tích của chuyên đề số 9.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/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Đánh giá hiện trạng hạ tầng và dịch vụ đám mây.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Triển khai giải pháp phần mềm quản trị văn phòng trực tuyến độc lập.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Đảm bảo tính liên tục trong hoạt động nghiệp vụ của khách hàng doanh nghiệp.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Cam kết mức độ sẵn sàng dịch vụ (SLA) đạt 99.9%.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62000" y="762000"/>
            <a:ext cx="10668000" cy="762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vi-VN" sz="2800" b="0" i="0" u="none">
                <a:solidFill>
                  <a:srgbClr val="0F172A"/>
                </a:solidFill>
              </a:rPr>
              <a:t>Chuyên Đề 10: Báo Cáo Chiến Lược Chuyển Đổi Số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2000" y="1778000"/>
            <a:ext cx="10668000" cy="317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/>
            <a:r>
              <a:rPr lang="vi-VN" sz="1800" b="0" i="0" u="none">
                <a:solidFill>
                  <a:srgbClr val="334155"/>
                </a:solidFill>
              </a:rPr>
              <a:t>Nội dung chi tiết phân tích của chuyên đề số 10.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/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Đánh giá hiện trạng hạ tầng và dịch vụ đám mây.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Triển khai giải pháp phần mềm quản trị văn phòng trực tuyến độc lập.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Đảm bảo tính liên tục trong hoạt động nghiệp vụ của khách hàng doanh nghiệp.</a:t>
            </a:r>
          </a:p>
          <a:p>
            <a:pPr/>
            <a:r>
              <a:rPr lang="vi-VN" sz="1800" b="0" i="0" u="none">
                <a:solidFill>
                  <a:srgbClr val="334155"/>
                </a:solidFill>
              </a:rPr>
              <a:t>• Cam kết mức độ sẵn sàng dịch vụ (SLA) đạt 99.9%.</a:t>
            </a:r>
          </a:p>
        </p:txBody>
      </p:sp>
    </p:spTree>
  </p:cSld>
  <p:clrMapOvr>
    <a:masterClrMapping/>
  </p:clrMapOvr>
</p:sld>
</file>
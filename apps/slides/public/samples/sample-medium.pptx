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  <p:sldId id="259" r:id="rId4"/>
    <p:sldId id="260" r:id="rId5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0000" y="2286000"/>
            <a:ext cx="9652000" cy="10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600" b="0" i="0" u="none">
                <a:solidFill>
                  <a:srgbClr val="FFFFFF"/>
                </a:solidFill>
              </a:rPr>
              <a:t>Kiến Trúc Kỹ Thuật OneOffice Web Suite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5000" y="3556000"/>
            <a:ext cx="8382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800" b="0" i="0" u="none">
                <a:solidFill>
                  <a:srgbClr val="94A3B8"/>
                </a:solidFill>
              </a:rPr>
              <a:t>Monorepo Architecture • Turborepo + pnpm workspace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600" b="0" i="0" u="none">
                <a:solidFill>
                  <a:srgbClr val="0F172A"/>
                </a:solidFill>
              </a:rPr>
              <a:t>1. Cấu Trúc Phân Tầng Ứng Dụng (Apps)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524000"/>
            <a:ext cx="3175000" cy="2286000"/>
          </a:xfrm>
          <a:prstGeom prst="rect">
            <a:avLst/>
          </a:prstGeom>
          <a:solidFill>
            <a:srgbClr val="F0FDF4"/>
          </a:solidFill>
        </p:spPr>
        <p:txBody>
          <a:bodyPr wrap="square" rtlCol="0">
            <a:spAutoFit/>
          </a:bodyPr>
          <a:lstStyle/>
          <a:p>
            <a:pPr/>
            <a:r>
              <a:rPr lang="vi-VN" sz="2000" b="0" i="0" u="none">
                <a:solidFill>
                  <a:srgbClr val="0F172A"/>
                </a:solidFill>
              </a:rPr>
              <a:t/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1778000"/>
            <a:ext cx="2667000" cy="17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500" b="0" i="0" u="none">
                <a:solidFill>
                  <a:srgbClr val="166534"/>
                </a:solidFill>
              </a:rPr>
              <a:t>apps/docs</a:t>
            </a:r>
          </a:p>
          <a:p>
            <a:pPr/>
            <a:r>
              <a:rPr lang="vi-VN" sz="1500" b="0" i="0" u="none">
                <a:solidFill>
                  <a:srgbClr val="166534"/>
                </a:solidFill>
              </a:rPr>
              <a:t/>
            </a:r>
          </a:p>
          <a:p>
            <a:pPr/>
            <a:r>
              <a:rPr lang="vi-VN" sz="1500" b="0" i="0" u="none">
                <a:solidFill>
                  <a:srgbClr val="166534"/>
                </a:solidFill>
              </a:rPr>
              <a:t>• React 19 + TipTap</a:t>
            </a:r>
          </a:p>
          <a:p>
            <a:pPr/>
            <a:r>
              <a:rPr lang="vi-VN" sz="1500" b="0" i="0" u="none">
                <a:solidFill>
                  <a:srgbClr val="166534"/>
                </a:solidFill>
              </a:rPr>
              <a:t>• docx-io</a:t>
            </a:r>
          </a:p>
          <a:p>
            <a:pPr/>
            <a:r>
              <a:rPr lang="vi-VN" sz="1500" b="0" i="0" u="none">
                <a:solidFill>
                  <a:srgbClr val="166534"/>
                </a:solidFill>
              </a:rPr>
              <a:t>• Trình soạn thảo văn bản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45000" y="1524000"/>
            <a:ext cx="3175000" cy="2286000"/>
          </a:xfrm>
          <a:prstGeom prst="rect">
            <a:avLst/>
          </a:prstGeom>
          <a:solidFill>
            <a:srgbClr val="EFF6FF"/>
          </a:solidFill>
        </p:spPr>
        <p:txBody>
          <a:bodyPr wrap="square" rtlCol="0">
            <a:spAutoFit/>
          </a:bodyPr>
          <a:lstStyle/>
          <a:p>
            <a:pPr/>
            <a:r>
              <a:rPr lang="vi-VN" sz="2000" b="0" i="0" u="none">
                <a:solidFill>
                  <a:srgbClr val="0F172A"/>
                </a:solidFill>
              </a:rPr>
              <a:t/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99000" y="1778000"/>
            <a:ext cx="2667000" cy="17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500" b="0" i="0" u="none">
                <a:solidFill>
                  <a:srgbClr val="1E40AF"/>
                </a:solidFill>
              </a:rPr>
              <a:t>apps/sheets</a:t>
            </a:r>
          </a:p>
          <a:p>
            <a:pPr/>
            <a:r>
              <a:rPr lang="vi-VN" sz="1500" b="0" i="0" u="none">
                <a:solidFill>
                  <a:srgbClr val="1E40AF"/>
                </a:solidFill>
              </a:rPr>
              <a:t/>
            </a:r>
          </a:p>
          <a:p>
            <a:pPr/>
            <a:r>
              <a:rPr lang="vi-VN" sz="1500" b="0" i="0" u="none">
                <a:solidFill>
                  <a:srgbClr val="1E40AF"/>
                </a:solidFill>
              </a:rPr>
              <a:t>• React 19 + Univer OSS</a:t>
            </a:r>
          </a:p>
          <a:p>
            <a:pPr/>
            <a:r>
              <a:rPr lang="vi-VN" sz="1500" b="0" i="0" u="none">
                <a:solidFill>
                  <a:srgbClr val="1E40AF"/>
                </a:solidFill>
              </a:rPr>
              <a:t>• xlsx-io (ExcelJS)</a:t>
            </a:r>
          </a:p>
          <a:p>
            <a:pPr/>
            <a:r>
              <a:rPr lang="vi-VN" sz="1500" b="0" i="0" u="none">
                <a:solidFill>
                  <a:srgbClr val="1E40AF"/>
                </a:solidFill>
              </a:rPr>
              <a:t>• Bảng tính &amp; Biểu đồ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28000" y="1524000"/>
            <a:ext cx="3175000" cy="2286000"/>
          </a:xfrm>
          <a:prstGeom prst="rect">
            <a:avLst/>
          </a:prstGeom>
          <a:solidFill>
            <a:srgbClr val="FFFBEB"/>
          </a:solidFill>
        </p:spPr>
        <p:txBody>
          <a:bodyPr wrap="square" rtlCol="0">
            <a:spAutoFit/>
          </a:bodyPr>
          <a:lstStyle/>
          <a:p>
            <a:pPr/>
            <a:r>
              <a:rPr lang="vi-VN" sz="2000" b="0" i="0" u="none">
                <a:solidFill>
                  <a:srgbClr val="0F172A"/>
                </a:solidFill>
              </a:rPr>
              <a:t/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82000" y="1778000"/>
            <a:ext cx="2667000" cy="17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500" b="0" i="0" u="none">
                <a:solidFill>
                  <a:srgbClr val="92400E"/>
                </a:solidFill>
              </a:rPr>
              <a:t>apps/slides</a:t>
            </a:r>
          </a:p>
          <a:p>
            <a:pPr/>
            <a:r>
              <a:rPr lang="vi-VN" sz="1500" b="0" i="0" u="none">
                <a:solidFill>
                  <a:srgbClr val="92400E"/>
                </a:solidFill>
              </a:rPr>
              <a:t/>
            </a:r>
          </a:p>
          <a:p>
            <a:pPr/>
            <a:r>
              <a:rPr lang="vi-VN" sz="1500" b="0" i="0" u="none">
                <a:solidFill>
                  <a:srgbClr val="92400E"/>
                </a:solidFill>
              </a:rPr>
              <a:t>• React 19 + pptx-io</a:t>
            </a:r>
          </a:p>
          <a:p>
            <a:pPr/>
            <a:r>
              <a:rPr lang="vi-VN" sz="1500" b="0" i="0" u="none">
                <a:solidFill>
                  <a:srgbClr val="92400E"/>
                </a:solidFill>
              </a:rPr>
              <a:t>• Canvas 16:9 + Presentation</a:t>
            </a:r>
          </a:p>
          <a:p>
            <a:pPr/>
            <a:r>
              <a:rPr lang="vi-VN" sz="1500" b="0" i="0" u="none">
                <a:solidFill>
                  <a:srgbClr val="92400E"/>
                </a:solidFill>
              </a:rPr>
              <a:t>• Trình chiếu thông minh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600" b="0" i="0" u="none">
                <a:solidFill>
                  <a:srgbClr val="0F172A"/>
                </a:solidFill>
              </a:rPr>
              <a:t>2. Các Thư Viện Dùng Chung (Shared Packages)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524000"/>
            <a:ext cx="10668000" cy="381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700" b="0" i="0" u="none">
                <a:solidFill>
                  <a:srgbClr val="334155"/>
                </a:solidFill>
              </a:rPr>
              <a:t>• @office/app-shell: Khung vỏ giao diện chung, TopBar, chuyển đổi ứng dụng ProductSwitcher.</a:t>
            </a:r>
          </a:p>
          <a:p>
            <a:pPr/>
            <a:r>
              <a:rPr lang="vi-VN" sz="1700" b="0" i="0" u="none">
                <a:solidFill>
                  <a:srgbClr val="334155"/>
                </a:solidFill>
              </a:rPr>
              <a:t>• @office/file-home: Quản lý danh sách tệp tin, thùng rác, mẫu tài liệu, thống kê bộ nhớ.</a:t>
            </a:r>
          </a:p>
          <a:p>
            <a:pPr/>
            <a:r>
              <a:rPr lang="vi-VN" sz="1700" b="0" i="0" u="none">
                <a:solidFill>
                  <a:srgbClr val="334155"/>
                </a:solidFill>
              </a:rPr>
              <a:t>• @office/storage-adapter: Lớp trừu tượng hoá kho lưu trữ IndexedDB/Drive.</a:t>
            </a:r>
          </a:p>
          <a:p>
            <a:pPr/>
            <a:r>
              <a:rPr lang="vi-VN" sz="1700" b="0" i="0" u="none">
                <a:solidFill>
                  <a:srgbClr val="334155"/>
                </a:solidFill>
              </a:rPr>
              <a:t>• @office/ui-kit: Design tokens chuẩn thương hiệu iNET, bộ component Shadcn UI + Base UI.</a:t>
            </a:r>
          </a:p>
          <a:p>
            <a:pPr/>
            <a:r>
              <a:rPr lang="vi-VN" sz="1700" b="0" i="0" u="none">
                <a:solidFill>
                  <a:srgbClr val="334155"/>
                </a:solidFill>
              </a:rPr>
              <a:t>• @office/i18n: Đa ngôn ngữ Việt/Anh với suy diễn kiểu dữ liệu 100% tự động.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600" b="0" i="0" u="none">
                <a:solidFill>
                  <a:srgbClr val="0F172A"/>
                </a:solidFill>
              </a:rPr>
              <a:t>3. Tiêu Chí Hiệu Năng &amp; Chất Lượng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651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• Tốc độ nạp trang ban đầu &lt; 2.0s trên mạng tiêu chuẩn.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Thời gian phản hồi thao tác gõ chữ / kéo thả canvas đạt mức 60 FPS mượt mà.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Không rò rỉ bộ nhớ khi mở tài liệu lớn kéo dài nhiều giờ.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Kiểm tra typecheck và build tự động trong CI/CD đảm bảo 0 lỗi hồi quy.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0000" y="2286000"/>
            <a:ext cx="9652000" cy="10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400" b="0" i="0" u="none">
                <a:solidFill>
                  <a:srgbClr val="B45309"/>
                </a:solidFill>
              </a:rPr>
              <a:t>OneOffice — Sức Mạnh Làm Việc Tự Chủ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05000" y="3556000"/>
            <a:ext cx="8382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1800" b="0" i="0" u="none">
                <a:solidFill>
                  <a:srgbClr val="64748B"/>
                </a:solidFill>
              </a:rPr>
              <a:t>Cảm ơn quý khách hàng và các đối tác đã đồng hành cùng iNET.</a:t>
            </a:r>
          </a:p>
        </p:txBody>
      </p:sp>
    </p:spTree>
  </p:cSld>
  <p:clrMapOvr>
    <a:masterClrMapping/>
  </p:clrMapOvr>
</p:sld>
</file>